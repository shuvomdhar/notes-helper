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6858000" cx="9144000"/>
  <p:notesSz cx="10234600" cy="7099300"/>
  <p:embeddedFontLst>
    <p:embeddedFont>
      <p:font typeface="Palatino Linotyp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236">
          <p15:clr>
            <a:srgbClr val="000000"/>
          </p15:clr>
        </p15:guide>
        <p15:guide id="2" pos="3224">
          <p15:clr>
            <a:srgbClr val="000000"/>
          </p15:clr>
        </p15:guide>
      </p15:notesGuideLst>
    </p:ext>
    <p:ext uri="GoogleSlidesCustomDataVersion2">
      <go:slidesCustomData xmlns:go="http://customooxmlschemas.google.com/" r:id="rId23" roundtripDataSignature="AMtx7miAyXPAS6P9AS968Fxa1qCYAmOK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AE9253-61BC-4A68-A32D-A7B94057D10B}">
  <a:tblStyle styleId="{9AAE9253-61BC-4A68-A32D-A7B94057D1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236" orient="horz"/>
        <p:guide pos="32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latinoLinotype-bold.fntdata"/><Relationship Id="rId11" Type="http://schemas.openxmlformats.org/officeDocument/2006/relationships/slide" Target="slides/slide4.xml"/><Relationship Id="rId22" Type="http://schemas.openxmlformats.org/officeDocument/2006/relationships/font" Target="fonts/PalatinoLinotype-boldItalic.fntdata"/><Relationship Id="rId10" Type="http://schemas.openxmlformats.org/officeDocument/2006/relationships/slide" Target="slides/slide3.xml"/><Relationship Id="rId21" Type="http://schemas.openxmlformats.org/officeDocument/2006/relationships/font" Target="fonts/PalatinoLinotype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PalatinoLinotype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797550" y="0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1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9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9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11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11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3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3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b19de234a_0_269:notes"/>
          <p:cNvSpPr/>
          <p:nvPr>
            <p:ph idx="2" type="sldImg"/>
          </p:nvPr>
        </p:nvSpPr>
        <p:spPr>
          <a:xfrm>
            <a:off x="3341687" y="531812"/>
            <a:ext cx="3549600" cy="266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3" name="Google Shape;93;g34b19de234a_0_269:notes"/>
          <p:cNvSpPr txBox="1"/>
          <p:nvPr>
            <p:ph idx="1" type="body"/>
          </p:nvPr>
        </p:nvSpPr>
        <p:spPr>
          <a:xfrm>
            <a:off x="1023937" y="3371850"/>
            <a:ext cx="81867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4b19de234a_0_269:notes"/>
          <p:cNvSpPr txBox="1"/>
          <p:nvPr>
            <p:ph idx="12" type="sldNum"/>
          </p:nvPr>
        </p:nvSpPr>
        <p:spPr>
          <a:xfrm>
            <a:off x="5797550" y="6742112"/>
            <a:ext cx="4435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21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1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23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23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28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28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2:notes"/>
          <p:cNvSpPr/>
          <p:nvPr>
            <p:ph idx="2" type="sldImg"/>
          </p:nvPr>
        </p:nvSpPr>
        <p:spPr>
          <a:xfrm>
            <a:off x="3341687" y="531812"/>
            <a:ext cx="3549650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32:notes"/>
          <p:cNvSpPr txBox="1"/>
          <p:nvPr>
            <p:ph idx="1" type="body"/>
          </p:nvPr>
        </p:nvSpPr>
        <p:spPr>
          <a:xfrm>
            <a:off x="1023937" y="3371850"/>
            <a:ext cx="8186737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32:notes"/>
          <p:cNvSpPr txBox="1"/>
          <p:nvPr/>
        </p:nvSpPr>
        <p:spPr>
          <a:xfrm>
            <a:off x="5797550" y="6742112"/>
            <a:ext cx="4435475" cy="3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4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0" type="dt"/>
          </p:nvPr>
        </p:nvSpPr>
        <p:spPr>
          <a:xfrm>
            <a:off x="76200" y="6069012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1" type="ftr"/>
          </p:nvPr>
        </p:nvSpPr>
        <p:spPr>
          <a:xfrm>
            <a:off x="2085975" y="236537"/>
            <a:ext cx="586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2" type="sldNum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?"/>
              <a:defRPr/>
            </a:lvl2pPr>
            <a:lvl3pPr indent="-314325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1" type="ftr"/>
          </p:nvPr>
        </p:nvSpPr>
        <p:spPr>
          <a:xfrm>
            <a:off x="609600" y="6248400"/>
            <a:ext cx="806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0" y="1271587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/>
        </p:nvSpPr>
        <p:spPr>
          <a:xfrm>
            <a:off x="0" y="5970587"/>
            <a:ext cx="9144000" cy="88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1" name="Google Shape;11;p33"/>
          <p:cNvSpPr txBox="1"/>
          <p:nvPr/>
        </p:nvSpPr>
        <p:spPr>
          <a:xfrm>
            <a:off x="-9525" y="6053137"/>
            <a:ext cx="2249400" cy="71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" name="Google Shape;12;p33"/>
          <p:cNvSpPr txBox="1"/>
          <p:nvPr/>
        </p:nvSpPr>
        <p:spPr>
          <a:xfrm>
            <a:off x="2359025" y="6043612"/>
            <a:ext cx="67851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3" name="Google Shape;13;p33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" type="body"/>
          </p:nvPr>
        </p:nvSpPr>
        <p:spPr>
          <a:xfrm>
            <a:off x="612775" y="1600200"/>
            <a:ext cx="8153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909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4169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8137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B81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8B25C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5" name="Google Shape;15;p33"/>
          <p:cNvSpPr txBox="1"/>
          <p:nvPr>
            <p:ph idx="10" type="dt"/>
          </p:nvPr>
        </p:nvSpPr>
        <p:spPr>
          <a:xfrm>
            <a:off x="76200" y="6069012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6" name="Google Shape;16;p33"/>
          <p:cNvSpPr txBox="1"/>
          <p:nvPr>
            <p:ph idx="11" type="ftr"/>
          </p:nvPr>
        </p:nvSpPr>
        <p:spPr>
          <a:xfrm>
            <a:off x="2085975" y="236537"/>
            <a:ext cx="586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7" name="Google Shape;17;p33"/>
          <p:cNvSpPr txBox="1"/>
          <p:nvPr>
            <p:ph idx="12" type="sldNum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5"/>
          <p:cNvSpPr txBox="1"/>
          <p:nvPr/>
        </p:nvSpPr>
        <p:spPr>
          <a:xfrm>
            <a:off x="0" y="1235075"/>
            <a:ext cx="9144000" cy="3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6" name="Google Shape;26;p35"/>
          <p:cNvSpPr txBox="1"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7" name="Google Shape;27;p35"/>
          <p:cNvSpPr txBox="1"/>
          <p:nvPr/>
        </p:nvSpPr>
        <p:spPr>
          <a:xfrm>
            <a:off x="590550" y="1279525"/>
            <a:ext cx="85536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8" name="Google Shape;28;p35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612775" y="1600200"/>
            <a:ext cx="8153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909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4169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8137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B81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8B25C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1" type="ftr"/>
          </p:nvPr>
        </p:nvSpPr>
        <p:spPr>
          <a:xfrm>
            <a:off x="609600" y="6248400"/>
            <a:ext cx="806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12" type="sldNum"/>
          </p:nvPr>
        </p:nvSpPr>
        <p:spPr>
          <a:xfrm>
            <a:off x="0" y="1271587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alatino Linotype"/>
              <a:buNone/>
              <a:defRPr b="1" i="0" sz="14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Twentieth Century"/>
              <a:buNone/>
            </a:pPr>
            <a:br>
              <a:rPr b="0" i="0" lang="en-US" sz="4000" u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0" i="0" lang="en-US" sz="4900" u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DIMENSIONALITY REDUCTION</a:t>
            </a:r>
            <a:endParaRPr/>
          </a:p>
        </p:txBody>
      </p:sp>
      <p:sp>
        <p:nvSpPr>
          <p:cNvPr id="43" name="Google Shape;43;p1"/>
          <p:cNvSpPr txBox="1"/>
          <p:nvPr>
            <p:ph idx="1" type="subTitle"/>
          </p:nvPr>
        </p:nvSpPr>
        <p:spPr>
          <a:xfrm>
            <a:off x="2362200" y="6049962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sz="2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/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Dimensionality reduction</a:t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609600" y="6248400"/>
            <a:ext cx="8066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latino Linotype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Based on E Alpaydın 2004 Introduction to Machine Learning © The MIT Press (V1.1)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0" y="1271587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alatino Linotyp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Need much more data (curse of dimensionality) </a:t>
            </a:r>
            <a:endParaRPr sz="2200"/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If number of </a:t>
            </a:r>
            <a:r>
              <a:rPr lang="en-US" sz="2200"/>
              <a:t>features</a:t>
            </a: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is increased</a:t>
            </a:r>
            <a:endParaRPr sz="2200"/>
          </a:p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More time to compute </a:t>
            </a:r>
            <a:endParaRPr sz="2200"/>
          </a:p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More  memory to store inputs and intermediate results</a:t>
            </a:r>
            <a:endParaRPr sz="2200"/>
          </a:p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More complicated explanations (knowledge from learning) </a:t>
            </a:r>
            <a:endParaRPr sz="2200"/>
          </a:p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simple visualizati</a:t>
            </a: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</a:t>
            </a:r>
            <a:endParaRPr i="0" sz="2200" u="none" cap="none" strike="noStrike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Some features (dimensions) bear little or nor useful information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Can drop some features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Have to estimate which features can be dropped from data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Several features can be combined together without loss or even with gain of information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Have to estimate which features to combine from data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b="0" i="0" lang="en-US" sz="4400" u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Selection vs Extraction</a:t>
            </a:r>
            <a:endParaRPr/>
          </a:p>
        </p:txBody>
      </p:sp>
      <p:sp>
        <p:nvSpPr>
          <p:cNvPr id="59" name="Google Shape;59;p4"/>
          <p:cNvSpPr txBox="1"/>
          <p:nvPr/>
        </p:nvSpPr>
        <p:spPr>
          <a:xfrm>
            <a:off x="609600" y="6248400"/>
            <a:ext cx="8066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latino Linotype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Lecture Notes for E Alpaydın 2004 Introduction to Machine Learning © The MIT Press (V1.1)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0" y="1271587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alatino Linotyp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 txBox="1"/>
          <p:nvPr>
            <p:ph idx="1" type="body"/>
          </p:nvPr>
        </p:nvSpPr>
        <p:spPr>
          <a:xfrm>
            <a:off x="296100" y="1600200"/>
            <a:ext cx="86727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selection: </a:t>
            </a:r>
            <a:endParaRPr b="0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Choosing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&lt;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important features,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ignoring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the remaining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</a:t>
            </a:r>
            <a:endParaRPr b="0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Subset selection algorithms</a:t>
            </a:r>
            <a:endParaRPr b="0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Twentieth Century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extraction</a:t>
            </a:r>
            <a:r>
              <a:rPr b="0" i="0" lang="en-US" sz="2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</a:t>
            </a:r>
            <a:endParaRPr b="0" i="0" sz="2400" u="none" cap="none" strike="noStrike">
              <a:solidFill>
                <a:schemeClr val="lt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wentieth Century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Project the  original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x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=1,...,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-US" sz="2400"/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dimensions to  new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&lt;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dimensions,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=1,...,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</a:t>
            </a:r>
            <a:endParaRPr sz="2400"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Principal Components Analysis (PCA)</a:t>
            </a:r>
            <a:endParaRPr sz="2400"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Factor Analysis (FA)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Feature Selection: </a:t>
            </a:r>
            <a:r>
              <a:rPr b="0" i="0" lang="en-US" sz="4400" u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Subset-selection</a:t>
            </a:r>
            <a:endParaRPr/>
          </a:p>
        </p:txBody>
      </p:sp>
      <p:sp>
        <p:nvSpPr>
          <p:cNvPr id="68" name="Google Shape;68;p9"/>
          <p:cNvSpPr txBox="1"/>
          <p:nvPr/>
        </p:nvSpPr>
        <p:spPr>
          <a:xfrm>
            <a:off x="609600" y="6248400"/>
            <a:ext cx="8066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latino Linotype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Based on E Alpaydın 2004 Introduction to Machine Learning © The MIT Press (V1.1)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0" y="1271587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alatino Linotyp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533400" y="1600200"/>
            <a:ext cx="904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●"/>
            </a:pPr>
            <a:r>
              <a:rPr b="0" i="0" lang="en-US" sz="22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Forward search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Start from empty set of features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Try each of remaining features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Estimate classification/regression error for adding specific feature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Select feature that gives maximum improvement in validation error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Stop when no significant improvement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●"/>
            </a:pPr>
            <a:r>
              <a:rPr b="0" i="0" lang="en-US" sz="22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Backward search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Start with original set of size d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Drop features with smallest impact on error</a:t>
            </a:r>
            <a:endParaRPr b="0" i="0" sz="2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b="0" i="0" lang="en-US" sz="4400" u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Extraction</a:t>
            </a:r>
            <a:endParaRPr/>
          </a:p>
        </p:txBody>
      </p:sp>
      <p:sp>
        <p:nvSpPr>
          <p:cNvPr id="77" name="Google Shape;77;p11"/>
          <p:cNvSpPr txBox="1"/>
          <p:nvPr/>
        </p:nvSpPr>
        <p:spPr>
          <a:xfrm>
            <a:off x="609600" y="6248400"/>
            <a:ext cx="8066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latino Linotype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Based on E Alpaydın 2004 Introduction to Machine Learning © The MIT Press (V1.1)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1"/>
          <p:cNvSpPr txBox="1"/>
          <p:nvPr/>
        </p:nvSpPr>
        <p:spPr>
          <a:xfrm>
            <a:off x="0" y="1271587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alatino Linotyp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612775" y="1600200"/>
            <a:ext cx="8346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Face recognition problem</a:t>
            </a:r>
            <a:endParaRPr sz="2400"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Training data input: pairs of Image + Label(name) </a:t>
            </a:r>
            <a:endParaRPr sz="2400"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Classifier input: Image</a:t>
            </a:r>
            <a:endParaRPr sz="2400"/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Classifier output: Label(Name)</a:t>
            </a:r>
            <a:endParaRPr sz="2400"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Image: Matrix of 256X256=65536 values in range 0..256</a:t>
            </a:r>
            <a:endParaRPr sz="2400"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pixels bear little information so can’t select 100 best ones</a:t>
            </a:r>
            <a:endParaRPr sz="2400"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Average of pixels around specific positions may give an indication about an eye color. </a:t>
            </a:r>
            <a:endParaRPr b="0" i="0" sz="2400" u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b="0" i="0" lang="en-US" sz="4400" u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PCA: Motivation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6248400"/>
            <a:ext cx="8066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latino Linotype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Based on E Alpaydın 2004 Introduction to Machine Learning © The MIT Press (V1.1)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0" y="1271587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alatino Linotyp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612775" y="1485900"/>
            <a:ext cx="5127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0997" lvl="0" marL="3190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Assume that  d observables are linear combination of k&lt;d vectors</a:t>
            </a:r>
            <a:endParaRPr sz="2400"/>
          </a:p>
          <a:p>
            <a:pPr indent="-360997" lvl="0" marL="319087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z</a:t>
            </a:r>
            <a:r>
              <a:rPr b="0" baseline="-2500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=w</a:t>
            </a:r>
            <a:r>
              <a:rPr b="0" baseline="-2500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i1</a:t>
            </a: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x</a:t>
            </a:r>
            <a:r>
              <a:rPr b="0" baseline="-2500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i1</a:t>
            </a: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+…+w</a:t>
            </a:r>
            <a:r>
              <a:rPr b="0" baseline="-2500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ik</a:t>
            </a: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x</a:t>
            </a:r>
            <a:r>
              <a:rPr b="0" baseline="-2500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id</a:t>
            </a:r>
            <a:endParaRPr sz="2400"/>
          </a:p>
          <a:p>
            <a:pPr indent="-360997" lvl="0" marL="319087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 would like to work with basis as it has lesser dimension and have all(almost) required information</a:t>
            </a:r>
            <a:endParaRPr sz="2400"/>
          </a:p>
        </p:txBody>
      </p:sp>
      <p:pic>
        <p:nvPicPr>
          <p:cNvPr descr="PCA plot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9155" y="1762500"/>
            <a:ext cx="3305325" cy="23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26175" y="3857675"/>
            <a:ext cx="8232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●"/>
            </a:pPr>
            <a:r>
              <a:rPr lang="en-US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we expect from such basis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lang="en-US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Uncorrelated or otherwise can be reduced further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○"/>
            </a:pPr>
            <a:r>
              <a:rPr lang="en-US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Have large variance or otherwise bear no information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●"/>
            </a:pPr>
            <a:r>
              <a:rPr lang="en-US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Choose directions such that a total variance of data will be maximum: Maximize Total Variance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●"/>
            </a:pPr>
            <a:r>
              <a:rPr lang="en-US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Choose directions that are orthogonal: Minimize correlation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wentieth Century"/>
              <a:buChar char="●"/>
            </a:pPr>
            <a:r>
              <a:rPr lang="en-US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Choose k&lt;d orthogonal directions which maximize total variance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b19de234a_0_269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PCA: Steps</a:t>
            </a:r>
            <a:endParaRPr/>
          </a:p>
        </p:txBody>
      </p:sp>
      <p:sp>
        <p:nvSpPr>
          <p:cNvPr id="97" name="Google Shape;97;g34b19de234a_0_269"/>
          <p:cNvSpPr txBox="1"/>
          <p:nvPr>
            <p:ph idx="1" type="body"/>
          </p:nvPr>
        </p:nvSpPr>
        <p:spPr>
          <a:xfrm>
            <a:off x="612650" y="1600200"/>
            <a:ext cx="81534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Twentieth Century"/>
              <a:buChar char="◻"/>
            </a:pPr>
            <a:r>
              <a:rPr lang="en-US" sz="2200"/>
              <a:t>Find the mean of each features. 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wentieth Century"/>
              <a:buChar char="◻"/>
            </a:pPr>
            <a:r>
              <a:rPr lang="en-US" sz="2200"/>
              <a:t>Calculate the covariance matrix.  (say A)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wentieth Century"/>
              <a:buChar char="◻"/>
            </a:pPr>
            <a:r>
              <a:rPr lang="en-US" sz="2200"/>
              <a:t>Calculate Eigenvalues of the covariance matrix.  det(A-λI)=0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wentieth Century"/>
              <a:buChar char="◻"/>
            </a:pPr>
            <a:r>
              <a:rPr lang="en-US" sz="2200"/>
              <a:t>Compute eigenvectors  (say U)  i.e., (A-λI)U=[0 0]</a:t>
            </a:r>
            <a:r>
              <a:rPr baseline="30000" lang="en-US" sz="2300"/>
              <a:t>T	</a:t>
            </a:r>
            <a:endParaRPr baseline="30000" sz="23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wentieth Century"/>
              <a:buChar char="◻"/>
            </a:pPr>
            <a:r>
              <a:rPr lang="en-US" sz="2200"/>
              <a:t>Find unit eigenvectors (say e1)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wentieth Century"/>
              <a:buChar char="◻"/>
            </a:pPr>
            <a:r>
              <a:rPr lang="en-US" sz="2200"/>
              <a:t>Compute first principal components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2200"/>
          </a:p>
        </p:txBody>
      </p:sp>
      <p:sp>
        <p:nvSpPr>
          <p:cNvPr id="98" name="Google Shape;98;g34b19de234a_0_269"/>
          <p:cNvSpPr txBox="1"/>
          <p:nvPr>
            <p:ph idx="12" type="sldNum"/>
          </p:nvPr>
        </p:nvSpPr>
        <p:spPr>
          <a:xfrm>
            <a:off x="0" y="1271587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alatino Linotype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99" name="Google Shape;99;g34b19de234a_0_269"/>
          <p:cNvGraphicFramePr/>
          <p:nvPr/>
        </p:nvGraphicFramePr>
        <p:xfrm>
          <a:off x="5373425" y="320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{9AAE9253-61BC-4A68-A32D-A7B94057D10B}</a:tableStyleId>
              </a:tblPr>
              <a:tblGrid>
                <a:gridCol w="1322875"/>
                <a:gridCol w="1030000"/>
                <a:gridCol w="981175"/>
              </a:tblGrid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 hMerge="1"/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aseline="-2500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Sample 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Sample 2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Sample 3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Sample 4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b="0" i="0" lang="en-US" sz="4400" u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PCA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609600" y="6248400"/>
            <a:ext cx="8066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latino Linotype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Lecture Notes for E Alpaydın 2004 Introduction to Machine Learning © The MIT Press (V1.1)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0" y="1271587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alatino Linotyp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612775" y="1600200"/>
            <a:ext cx="85311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PCA is unsupervised (does not take into account class information</a:t>
            </a:r>
            <a:r>
              <a:rPr lang="en-US" sz="2400"/>
              <a:t>. </a:t>
            </a: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 take into account classes) </a:t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Common Principle Components</a:t>
            </a:r>
            <a:endParaRPr sz="2400"/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Assume all classes have same eigenvectors (directions) but different variances</a:t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Does not try to explain noise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Large noise can become new dimension/largest PC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Interested in resulting uncorrelated variables which explain large portion of </a:t>
            </a:r>
            <a:r>
              <a:rPr b="1" lang="en-US" sz="2400"/>
              <a:t>total</a:t>
            </a:r>
            <a:r>
              <a:rPr lang="en-US" sz="2400"/>
              <a:t> sample variance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Sometimes interested in explained shared variance (common factors) that affect data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b="0" i="0" lang="en-US" sz="4400" u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Factor Analysis (FA)</a:t>
            </a:r>
            <a:endParaRPr/>
          </a:p>
        </p:txBody>
      </p:sp>
      <p:sp>
        <p:nvSpPr>
          <p:cNvPr id="115" name="Google Shape;115;p23"/>
          <p:cNvSpPr txBox="1"/>
          <p:nvPr/>
        </p:nvSpPr>
        <p:spPr>
          <a:xfrm>
            <a:off x="609600" y="6248400"/>
            <a:ext cx="8066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latino Linotype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Based on E Alpaydın 2004 Introduction to Machine Learning © The MIT Press (V1.1)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3"/>
          <p:cNvSpPr txBox="1"/>
          <p:nvPr/>
        </p:nvSpPr>
        <p:spPr>
          <a:xfrm>
            <a:off x="0" y="1271587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alatino Linotyp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0997" lvl="0" marL="3190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◻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Assume set of unobservable (“latent”) variables</a:t>
            </a:r>
            <a:endParaRPr sz="2400"/>
          </a:p>
          <a:p>
            <a:pPr indent="-360997" lvl="0" marL="319087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◻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Goal: Characterize dependency among observables using latent variables</a:t>
            </a:r>
            <a:endParaRPr sz="2400"/>
          </a:p>
          <a:p>
            <a:pPr indent="-360997" lvl="0" marL="319087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◻"/>
            </a:pPr>
            <a:r>
              <a:rPr b="0" i="0" lang="en-US" sz="24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Suppose group of variables  having large correlation among themselves and small correlation with other variables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 Assume k input factors (latent unobservable) variables generating d observables</a:t>
            </a:r>
            <a:endParaRPr sz="2400"/>
          </a:p>
          <a:p>
            <a:pPr indent="-381000" lvl="0" marL="457200" rtl="0" algn="l">
              <a:spcBef>
                <a:spcPts val="70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Assume all variations in observable variables are due to latent or noise (with unknown variance)</a:t>
            </a:r>
            <a:endParaRPr sz="2400"/>
          </a:p>
          <a:p>
            <a:pPr indent="-381000" lvl="0" marL="457200" rtl="0" algn="l">
              <a:spcBef>
                <a:spcPts val="70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Find transformation from unobservable to observables which explain the data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b="0" i="0" lang="en-US" sz="4400" u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 Usage</a:t>
            </a:r>
            <a:endParaRPr/>
          </a:p>
        </p:txBody>
      </p:sp>
      <p:sp>
        <p:nvSpPr>
          <p:cNvPr id="124" name="Google Shape;124;p28"/>
          <p:cNvSpPr txBox="1"/>
          <p:nvPr/>
        </p:nvSpPr>
        <p:spPr>
          <a:xfrm>
            <a:off x="609600" y="6248400"/>
            <a:ext cx="8066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latino Linotype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Based on E Alpaydın 2004 Introduction to Machine Learning © The MIT Press (V1.1)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8"/>
          <p:cNvSpPr txBox="1"/>
          <p:nvPr/>
        </p:nvSpPr>
        <p:spPr>
          <a:xfrm>
            <a:off x="0" y="1271587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alatino Linotyp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9087" lvl="0" marL="31908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</a:pPr>
            <a:r>
              <a:rPr b="0" i="0" lang="en-US" sz="29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Speech  is a function of position of small number of articulators (lungs, lips, tongue)</a:t>
            </a:r>
            <a:endParaRPr/>
          </a:p>
          <a:p>
            <a:pPr indent="-208597" lvl="0" marL="319087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None/>
            </a:pPr>
            <a:r>
              <a:t/>
            </a:r>
            <a:endParaRPr b="0" i="0" sz="2900" u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19087" lvl="0" marL="319087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</a:pPr>
            <a:r>
              <a:rPr b="0" i="0" lang="en-US" sz="29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Factor analysis: go from signal space (4000 points for 500ms ) to articulation space (20 points)</a:t>
            </a:r>
            <a:endParaRPr/>
          </a:p>
          <a:p>
            <a:pPr indent="-208597" lvl="0" marL="319087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None/>
            </a:pPr>
            <a:r>
              <a:t/>
            </a:r>
            <a:endParaRPr b="0" i="0" sz="2900" u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19087" lvl="0" marL="319087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</a:pPr>
            <a:r>
              <a:rPr b="0" i="0" lang="en-US" sz="29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Classify speech (assign text label) by 20 points</a:t>
            </a:r>
            <a:endParaRPr/>
          </a:p>
          <a:p>
            <a:pPr indent="-208597" lvl="0" marL="319087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None/>
            </a:pPr>
            <a:r>
              <a:t/>
            </a:r>
            <a:endParaRPr b="0" i="0" sz="2900" u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19087" lvl="0" marL="319087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</a:pPr>
            <a:r>
              <a:rPr b="0" i="0" lang="en-US" sz="29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Speech Compression: send 20 values </a:t>
            </a:r>
            <a:endParaRPr/>
          </a:p>
          <a:p>
            <a:pPr indent="-208598" lvl="0" marL="319088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None/>
            </a:pPr>
            <a:r>
              <a:t/>
            </a:r>
            <a:endParaRPr b="0" i="0" sz="2900" u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b="0" i="0" lang="en-US" sz="4400" u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Summary</a:t>
            </a:r>
            <a:endParaRPr/>
          </a:p>
        </p:txBody>
      </p:sp>
      <p:sp>
        <p:nvSpPr>
          <p:cNvPr id="133" name="Google Shape;133;p32"/>
          <p:cNvSpPr txBox="1"/>
          <p:nvPr/>
        </p:nvSpPr>
        <p:spPr>
          <a:xfrm>
            <a:off x="609600" y="6248400"/>
            <a:ext cx="8066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latino Linotype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Based on E Alpaydın 2004 Introduction to Machine Learning © The MIT Press (V1.1)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2"/>
          <p:cNvSpPr txBox="1"/>
          <p:nvPr/>
        </p:nvSpPr>
        <p:spPr>
          <a:xfrm>
            <a:off x="0" y="1271587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alatino Linotype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2"/>
          <p:cNvSpPr txBox="1"/>
          <p:nvPr>
            <p:ph idx="1" type="body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9087" lvl="0" marL="31908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20"/>
              <a:buFont typeface="Noto Sans Symbols"/>
              <a:buChar char="◻"/>
            </a:pPr>
            <a:r>
              <a:rPr b="0" i="0" lang="en-US" sz="27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Feature selection</a:t>
            </a:r>
            <a:endParaRPr/>
          </a:p>
          <a:p>
            <a:pPr indent="-273049" lvl="1" marL="639762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🞑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Supervised: drop features which don’t introduce large errors (validation set)</a:t>
            </a:r>
            <a:endParaRPr/>
          </a:p>
          <a:p>
            <a:pPr indent="-273049" lvl="1" marL="639762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🞑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Unsupervised: keep only uncorrelated features (drop features that don’t add much information)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620"/>
              <a:buFont typeface="Noto Sans Symbols"/>
              <a:buChar char="◻"/>
            </a:pPr>
            <a:r>
              <a:rPr b="0" i="0" lang="en-US" sz="27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extraction</a:t>
            </a:r>
            <a:endParaRPr/>
          </a:p>
          <a:p>
            <a:pPr indent="-273049" lvl="1" marL="639762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🞑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Linearly combine feature into smaller set of features</a:t>
            </a:r>
            <a:endParaRPr/>
          </a:p>
          <a:p>
            <a:pPr indent="-273049" lvl="1" marL="639762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🞑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Supervised</a:t>
            </a:r>
            <a:endParaRPr/>
          </a:p>
          <a:p>
            <a:pPr indent="-228600" lvl="2" marL="9144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75"/>
              <a:buFont typeface="Noto Sans Symbols"/>
              <a:buChar char="■"/>
            </a:pPr>
            <a:r>
              <a:rPr b="0" i="0" lang="en-US" sz="2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PCA: explain most of the total variability</a:t>
            </a:r>
            <a:endParaRPr/>
          </a:p>
          <a:p>
            <a:pPr indent="-228600" lvl="2" marL="9144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75"/>
              <a:buFont typeface="Noto Sans Symbols"/>
              <a:buChar char="■"/>
            </a:pPr>
            <a:r>
              <a:rPr b="0" i="0" lang="en-US" sz="2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FA: explain most of the common variability</a:t>
            </a:r>
            <a:endParaRPr/>
          </a:p>
          <a:p>
            <a:pPr indent="-273049" lvl="1" marL="639762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🞑"/>
            </a:pPr>
            <a:r>
              <a:rPr b="0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Unsupervised</a:t>
            </a:r>
            <a:endParaRPr/>
          </a:p>
          <a:p>
            <a:pPr indent="-228600" lvl="2" marL="9144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75"/>
              <a:buFont typeface="Noto Sans Symbols"/>
              <a:buChar char="■"/>
            </a:pPr>
            <a:r>
              <a:rPr b="0" i="0" lang="en-US" sz="2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LDA: best separate class instances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2_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2005-01-24T14:46:28Z</dcterms:created>
  <dc:creator>ethem</dc:creator>
</cp:coreProperties>
</file>